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943600" cy="10972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0"/>
            <a:ext cx="6245352" cy="10972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58A6FF"/>
                </a:solidFill>
              </a:rPr>
              <a:t>GraphRAG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0F6FC"/>
                </a:solidFill>
              </a:rPr>
              <a:t>for Domain-Specific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320040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Knowledge-Graph-Augmented Retrieval
for Supply-Chain Resilience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📊 34-Question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4 Retrieval Methods Compared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466344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🏆 GraphRAG: #1 Overall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35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Score 0.767  |  22 / 34 wins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520440"/>
            <a:ext cx="466344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2A8FF"/>
                </a:solidFill>
              </a:rPr>
              <a:t>Citation Precision: 91.2%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From keyword search to semantic graph traversal — why it matters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Why standard RAG falls short on expert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949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</a:rPr>
              <a:t>❌  Keyword blindness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TF-IDF matches words but misses meaning — 'resilience' and 'robustness' are unrelated to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53949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539496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24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</a:rPr>
              <a:t>❌  Flat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53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Documents are treated as bags-of-words with no sense of how concepts relate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3949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39496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67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❌  No causal chains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Standard RAG cannot answer 'How does X lead to Y through Z?'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53949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539496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10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❌  Context fragmentation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39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Splitting text into chunks severs relationships that span sentence boundaries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71600"/>
            <a:ext cx="566928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371600"/>
            <a:ext cx="56692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Our Domain: Supply-Chain Resilience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01168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• OECD, World Bank, WTO policy documents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• Entities: strategy, policy, capability, risk,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  actor, sector, system, org, location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• Relations: STRENGTHENS, MITIGATES,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  ENABLES, TRADE_OFF_WITH, EXPOSES,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  CONSTRAINS, AFFECTS …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• Questions require multi-hop reasoning: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  'How does nearshoring affect resilience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  through supplier diversification?'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Two-phase pipeline: Indexing → Retrieval &amp;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0116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0116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3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📄 Corpus
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OECD / WB / WTO
PDF →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554480"/>
            <a:ext cx="20116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1554480"/>
            <a:ext cx="201168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69163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2A8FF"/>
                </a:solidFill>
              </a:rPr>
              <a:t>🔍 Entity &amp;
Relation
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spaCy NER +
Trigger vocab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554480"/>
            <a:ext cx="20116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554480"/>
            <a:ext cx="201168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69163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🕸 Knowledge
Graph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NetworkX
entity nodes
relation edges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554480"/>
            <a:ext cx="20116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1554480"/>
            <a:ext cx="201168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69163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📦 Index
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FAISS dense
+ TF-IDF sparse
+ Graph 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554480"/>
            <a:ext cx="2011680" cy="1737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554480"/>
            <a:ext cx="201168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69163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8166"/>
                </a:solidFill>
              </a:rPr>
              <a:t>💬 Query &amp;
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4 retrievers
+ GPT-4o-mini
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57600"/>
            <a:ext cx="1170432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26060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840480"/>
            <a:ext cx="260604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02336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6FC"/>
                </a:solidFill>
              </a:rPr>
              <a:t>Chunking
~300 tokens
50 token overlap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3840480"/>
            <a:ext cx="26060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0" y="3840480"/>
            <a:ext cx="260604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79" y="402336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6FC"/>
                </a:solidFill>
              </a:rPr>
              <a:t>Cross-sentence
2-sentence sliding
window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840480"/>
            <a:ext cx="26060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0" y="3840480"/>
            <a:ext cx="260604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402336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6FC"/>
                </a:solidFill>
              </a:rPr>
              <a:t>9 entity types
10 relation types
~61 rels/chunk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3840480"/>
            <a:ext cx="26060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03920" y="3840480"/>
            <a:ext cx="260604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402336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6FC"/>
                </a:solidFill>
              </a:rPr>
              <a:t>RRF fusion
Dense+Graph
signals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The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Entities, relations, and multi-hop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02920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0292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Entity Types &amp; 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8A6FF"/>
                </a:solidFill>
              </a:rPr>
              <a:t>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65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58A6FF"/>
                </a:solidFill>
              </a:rPr>
              <a:t>× 3.0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2A8FF"/>
                </a:solidFill>
              </a:rP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23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D2A8FF"/>
                </a:solidFill>
              </a:rPr>
              <a:t>× 2.9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FB950"/>
                </a:solidFill>
              </a:rPr>
              <a:t>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3FB950"/>
                </a:solidFill>
              </a:rPr>
              <a:t>× 2.6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918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8166"/>
                </a:solidFill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375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78166"/>
                </a:solidFill>
              </a:rPr>
              <a:t>× 2.4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49039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3B341"/>
                </a:solidFill>
              </a:rPr>
              <a:t>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79475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E3B341"/>
                </a:solidFill>
              </a:rPr>
              <a:t>× 1.9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51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3B341"/>
                </a:solidFill>
              </a:rPr>
              <a:t>sector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25195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E3B341"/>
                </a:solidFill>
              </a:rPr>
              <a:t>× 1.9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634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091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70915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8B949E"/>
                </a:solidFill>
              </a:rPr>
              <a:t>× 1.1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206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66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organization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6635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8B949E"/>
                </a:solidFill>
              </a:rPr>
              <a:t>× 0.7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577840"/>
            <a:ext cx="3108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623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62355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8B949E"/>
                </a:solidFill>
              </a:rPr>
              <a:t>× 0.5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280160"/>
            <a:ext cx="612648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0" y="1280160"/>
            <a:ext cx="612648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Relation 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1874519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STRENGTHENS  •  IMPROVES  •  MITIGATES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TRADE_OFF_WITH  •  ENABLES  •  EXPOSES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CONSTRAINS  •  AFFECTS  •  APPLIES_TO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F0F6FC"/>
                </a:solidFill>
              </a:rPr>
              <a:t>CO_OCCURS_WITH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840480"/>
            <a:ext cx="6126480" cy="2514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0" y="3840480"/>
            <a:ext cx="612648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80" y="397763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Graph Scoring Formula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44348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>score =  entity_match  +  coverage_bonus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>       + sentence_alignment  +  direct_relation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>       + path_bonus  +  lexical_score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>       − generic_penalty  − query_miss_penalty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>       − hub_penalty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>Bigrams get 2× lexical weight | Safety-net injects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0F6FC"/>
                </a:solidFill>
              </a:rPr>
              <a:t>top-2 lexical chunks regardless of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Four Retrieval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Baseline comparison across the spectrum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83464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83464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8166"/>
                </a:solidFill>
              </a:rPr>
              <a:t>TF-IDF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Sparse lexical
bag-of-words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2468880" cy="3657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60604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Term frequency – inverse document freq.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Fast, no model needed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Cannot handle paraphrase or context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Treats each chunk independently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3" y="1325880"/>
            <a:ext cx="283464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5263" y="1325880"/>
            <a:ext cx="283464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3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Dense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3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Semantic embeddings
+ FAISS ANN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8144" y="2487168"/>
            <a:ext cx="246888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3" y="260604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sentence-transformers (MiniLM-L6)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Cosine similarity search via FAISS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Handles synonyms &amp; paraphrase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No structural/relational knowledge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7" y="1325880"/>
            <a:ext cx="283464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7" y="1325880"/>
            <a:ext cx="283464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GraphRAG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Knowledge-graph
traversal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487168"/>
            <a:ext cx="2468880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60604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Entity matching + relation path scoring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Cross-sentence relation extraction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Bigram query terms + lexical safety-net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Highest citation precision: 91.2%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1325880"/>
            <a:ext cx="283464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17152" y="1325880"/>
            <a:ext cx="283464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2A8FF"/>
                </a:solidFill>
              </a:rPr>
              <a:t>Hybrid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RRF fusion
Dense +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032" y="2487168"/>
            <a:ext cx="246888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2606040"/>
            <a:ext cx="2560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Reciprocal Rank Fusion (k=60)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38% dense + 28% graph + 34% rank signals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Best on causal &amp; multi-hop categories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0F6FC"/>
                </a:solidFill>
              </a:rPr>
              <a:t>• Balanced precision/recall trade-off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Benchmark &amp; Evaluation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34 questions · LLM-as-judge · Weighted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493776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493776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34 Benchmark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43891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75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direct_factual  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04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Exact facts from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43891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73152" cy="7772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437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causal  (11)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72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X → Y causal chains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43891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73152" cy="77724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1246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mitigation  (4)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41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How to reduce / prevent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26279"/>
            <a:ext cx="43891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526279"/>
            <a:ext cx="73152" cy="77724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8114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8FF"/>
                </a:solidFill>
              </a:rPr>
              <a:t>trade_off  (4)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1032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Tension between properties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43891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73152" cy="77724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9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multi_hop  (9)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790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Requires ≥2 reasoning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1280160"/>
            <a:ext cx="630936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1280160"/>
            <a:ext cx="63093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14173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LLM-as-Judge Scoring Weights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1920240"/>
            <a:ext cx="3474720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938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Correctness  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2267712"/>
            <a:ext cx="2481942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2662" y="22860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Completeness  25%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2615184"/>
            <a:ext cx="2481942" cy="25603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2662" y="26334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Groundedness  25%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2962656"/>
            <a:ext cx="992777" cy="25603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53497" y="2980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Reasoning  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310128"/>
            <a:ext cx="496388" cy="256032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7108" y="33284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Clarity  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794760"/>
            <a:ext cx="6309360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0" y="3794760"/>
            <a:ext cx="630936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9319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</a:rPr>
              <a:t>Models 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4407408"/>
            <a:ext cx="5852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0F6FC"/>
                </a:solidFill>
              </a:rPr>
              <a:t>Generation:  GPT-4o-mini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0F6FC"/>
                </a:solidFill>
              </a:rPr>
              <a:t>Judge:       GPT-4o-mini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0F6FC"/>
                </a:solidFill>
              </a:rPr>
              <a:t>Embeddings:  all-MiniLM-L6-v2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0F6FC"/>
                </a:solidFill>
              </a:rPr>
              <a:t>NER:         spaCy en_core_web_sm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0F6FC"/>
                </a:solidFill>
              </a:rPr>
              <a:t>             + custom entity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GraphRAG leads on every key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704320" cy="658368"/>
          </a:xfrm>
          <a:prstGeom prst="rect">
            <a:avLst/>
          </a:prstGeom>
          <a:solidFill>
            <a:srgbClr val="0D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91440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🏆  GraphRAG achieves the highest overall score: 0.767  —  outperforming TF-IDF (0.725), Hybrid (0.728) and Dense (0.680)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11704320" cy="475488"/>
          </a:xfrm>
          <a:prstGeom prst="rect">
            <a:avLst/>
          </a:prstGeom>
          <a:solidFill>
            <a:srgbClr val="1C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874519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Overall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18745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Correctness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8745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Completeness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87451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Groundedness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87451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18745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Wins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77440"/>
            <a:ext cx="11704320" cy="749808"/>
          </a:xfrm>
          <a:prstGeom prst="rect">
            <a:avLst/>
          </a:prstGeom>
          <a:solidFill>
            <a:srgbClr val="16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603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GraphRAG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560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</a:rPr>
              <a:t>0.767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2560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0.813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560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0.810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60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60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0.821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560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82112"/>
            <a:ext cx="1170432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3649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Hybrid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3649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A8FF"/>
                </a:solidFill>
              </a:rPr>
              <a:t>0.728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39" y="33649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33649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0.666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3649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0.762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3649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3649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33649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86784"/>
            <a:ext cx="1170432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16966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TF-IDF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16966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8166"/>
                </a:solidFill>
              </a:rPr>
              <a:t>0.725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39" y="41696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41696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0.674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16966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16966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16966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1696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791456"/>
            <a:ext cx="11704320" cy="74980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9743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Dense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5960" y="497433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</a:rPr>
              <a:t>0.680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39" y="49743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49743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0.618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97433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97433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0.651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97433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0.738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49743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6FC"/>
                </a:solidFill>
              </a:rP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↑ higher is better  |  Wins = questions where method scored highest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Performance by Question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GraphRAG dominates reasoning-heavy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29967"/>
            <a:ext cx="320040" cy="37307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73935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</a:rPr>
              <a:t>0.85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2012411"/>
            <a:ext cx="320040" cy="3748308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56379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78166"/>
                </a:solidFill>
              </a:rPr>
              <a:t>0.85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0744" y="2828787"/>
            <a:ext cx="320040" cy="293193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0744" y="2572755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2A8FF"/>
                </a:solidFill>
              </a:rPr>
              <a:t>0.67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3936" y="3083356"/>
            <a:ext cx="320040" cy="2677363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73936" y="282732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</a:rPr>
              <a:t>0.61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factual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3784" y="2249424"/>
            <a:ext cx="320040" cy="351129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4" y="1993391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</a:rPr>
              <a:t>0.80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2556662"/>
            <a:ext cx="320040" cy="3204057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6976" y="230063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78166"/>
                </a:solidFill>
              </a:rPr>
              <a:t>0.73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0168" y="2293315"/>
            <a:ext cx="320040" cy="346740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037283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2A8FF"/>
                </a:solidFill>
              </a:rPr>
              <a:t>0.79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2403043"/>
            <a:ext cx="320040" cy="33576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147011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</a:rPr>
              <a:t>0.77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580644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causal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93208" y="2991185"/>
            <a:ext cx="320040" cy="276953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3208" y="2735153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</a:rPr>
              <a:t>0.63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3746113"/>
            <a:ext cx="320040" cy="201460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3490081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78166"/>
                </a:solidFill>
              </a:rPr>
              <a:t>0.46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9592" y="3473988"/>
            <a:ext cx="320040" cy="2286731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321795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2A8FF"/>
                </a:solidFill>
              </a:rPr>
              <a:t>0.52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2784" y="3482766"/>
            <a:ext cx="320040" cy="2277953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322673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</a:rPr>
              <a:t>0.52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580644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mitigation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42631" y="2640055"/>
            <a:ext cx="320040" cy="31206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1" y="2384023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</a:rPr>
              <a:t>0.71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35823" y="2350373"/>
            <a:ext cx="320040" cy="3410346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35823" y="2094341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78166"/>
                </a:solidFill>
              </a:rPr>
              <a:t>0.78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9015" y="2350373"/>
            <a:ext cx="320040" cy="341034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9015" y="2094341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2A8FF"/>
                </a:solidFill>
              </a:rPr>
              <a:t>0.78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22208" y="2424988"/>
            <a:ext cx="320040" cy="3335731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216895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</a:rPr>
              <a:t>0.76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580644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multi-hop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92056" y="2495214"/>
            <a:ext cx="320040" cy="326550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92056" y="223918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</a:rPr>
              <a:t>0.74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85248" y="2714670"/>
            <a:ext cx="320040" cy="3046049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5248" y="245863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78166"/>
                </a:solidFill>
              </a:rPr>
              <a:t>0.69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468880"/>
            <a:ext cx="320040" cy="3291839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78440" y="22128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2A8FF"/>
                </a:solidFill>
              </a:rPr>
              <a:t>0.75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71632" y="2372319"/>
            <a:ext cx="320040" cy="3388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71632" y="2116287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</a:rPr>
              <a:t>0.77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46336" y="580644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trade_off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6217920"/>
            <a:ext cx="228600" cy="1645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6199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GraphRAG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6217920"/>
            <a:ext cx="228600" cy="16459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6199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TF-IDF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6217920"/>
            <a:ext cx="228600" cy="16459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6199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Hybrid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6217920"/>
            <a:ext cx="228600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6199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Dense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989320"/>
            <a:ext cx="265176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5989320"/>
            <a:ext cx="265176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79" y="6016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FB950"/>
                </a:solidFill>
              </a:rPr>
              <a:t>Graph crushes Mitigation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79" y="6291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0.631 vs TF-IDF 0.459
+37% improvement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5989320"/>
            <a:ext cx="265176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46120" y="5989320"/>
            <a:ext cx="265176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83279" y="6016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FB950"/>
                </a:solidFill>
              </a:rPr>
              <a:t>Graph leads Causal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79" y="6291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0.800 vs Dense 0.765
Clear reasoning win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989320"/>
            <a:ext cx="265176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5989320"/>
            <a:ext cx="265176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6016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3B341"/>
                </a:solidFill>
              </a:rPr>
              <a:t>Graph #1 Correctness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6291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0.813 overall
Highest in benchmark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5989320"/>
            <a:ext cx="265176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89720" y="5989320"/>
            <a:ext cx="265176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6016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2A8FF"/>
                </a:solidFill>
              </a:rPr>
              <a:t>Cite precision 91.2%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6291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vs TF-IDF 85.3%
+5.9 pp precision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Why GraphRAG Outperforms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Engineering decisions that made the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57784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57784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FB950"/>
                </a:solidFill>
              </a:rPr>
              <a:t>Cross-Sentence Relation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2-sentence sliding window doubles relations/chunk: 30 → 61.6 avg
Captures implicit causal chains that span sentence 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57784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57784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8A6FF"/>
                </a:solidFill>
              </a:rPr>
              <a:t>Bigram Query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Extends query_terms() to include 2-word phrases ('supply chain', 'trade facilitation')
Bigrams get 2× lexical weight — reduces false positives from single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557784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54680"/>
            <a:ext cx="557784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3B341"/>
                </a:solidFill>
              </a:rPr>
              <a:t>Lexical Safety-Net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Force-injects top-2 lexically-matching chunks into final results regardless of entity score
Prevents factual chunks from being buried by high-scoring but irrelevant entity matches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154680"/>
            <a:ext cx="557784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154680"/>
            <a:ext cx="557784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46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2A8FF"/>
                </a:solidFill>
              </a:rPr>
              <a:t>Tuned Penalty/Reward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query_miss_penalty: 2.4 → 1.2  |  generic_penalty: 3.4 → 1.6  |  entity_match: 4.0 → 5.0
Stopped 8 questions scoring 0.000 — moved them to competitive range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92040"/>
            <a:ext cx="557784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892040"/>
            <a:ext cx="557784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834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78166"/>
                </a:solidFill>
              </a:rPr>
              <a:t>Expanded Trigger Vocabulary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949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+50 trigger words for IMPROVEMENT, ENABLEMENT, MITIGATION, AFFECT relation types
Richer graph means more relation paths available during traversal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892040"/>
            <a:ext cx="557784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892040"/>
            <a:ext cx="5577840" cy="54864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9834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9D353"/>
                </a:solidFill>
              </a:rPr>
              <a:t>Non-Linear Lexical Anchoring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3949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6FC"/>
                </a:solidFill>
              </a:rPr>
              <a:t>Lexical boost: 4.5× (≥45% overlap)  |  3.0× (≥25%)  |  1.5× (below)
High-overlap chunks are strongly surfaced; low-overlap not penalised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Interactive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Step-by-step query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749039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Enter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317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Type a supply-chain question
e.g. 'How does diversification
mitigate concentration risk?'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749039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173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2A8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8FF"/>
                </a:solidFill>
              </a:rPr>
              <a:t>Retrieve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All 4 methods retrieve
top-k chunks in parallel
with scored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2588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749039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4173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Build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317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Visualise entity nodes &amp;
relation edges extracted
from retrieved chunks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8620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86200"/>
            <a:ext cx="3749039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977639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69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3B341"/>
                </a:solidFill>
              </a:rPr>
              <a:t>Traverse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8920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Show path scoring:
entity matches, relation
bonuses, penalties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88620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886200"/>
            <a:ext cx="3749039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977639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8166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4069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8166"/>
                </a:solidFill>
              </a:rPr>
              <a:t>Generate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8920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LLM synthesises answer
from retrieved context
with citations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88620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886200"/>
            <a:ext cx="3749039" cy="54864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977639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069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Compare Methods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8920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Side-by-side scores
Winner highlighted
Category breakdown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Live at → http://localhost:8501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Honest assessment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71323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713232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Rule-Based Relation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Trigger-vocabulary approach misses novel phrasings not in the word list.
Solution → Fine-tune a relation extraction model (e.g. REBEL or RELIK)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87752"/>
            <a:ext cx="71323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87752"/>
            <a:ext cx="713232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</a:rPr>
              <a:t>Domain Lock-In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Graph schema (9 entity types, 10 relation types) is supply-chain specific.
Solution → Configurable ontology per domain; auto-induction from corpus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9624"/>
            <a:ext cx="71323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49624"/>
            <a:ext cx="713232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41063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Small Benchmark (34 Q)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LLM judge variance is high at low sample sizes; some scores may not be stable.
Solution → Expand to 100+ questions; use multiple judge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11496"/>
            <a:ext cx="7132320" cy="1115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111496"/>
            <a:ext cx="713232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02936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Hybrid Still Underperforms Pure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86983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</a:rPr>
              <a:t>Fusion weights need adaptive tuning per query type — static RRF is suboptimal.
Solution → Learn fusion weights with a small supervised 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325880"/>
            <a:ext cx="4251960" cy="5074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1325880"/>
            <a:ext cx="425196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463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🚀  Future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011680"/>
            <a:ext cx="64008" cy="56692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2057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Graph Neural Networks for retrieval scoring (GraphSAGE / GAT)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2880360"/>
            <a:ext cx="64008" cy="56692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29260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Multi-document graph fusion across the full corpus at query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749039"/>
            <a:ext cx="64008" cy="56692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3794759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Temporal graphs — track how policies evolve over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4617720"/>
            <a:ext cx="64008" cy="56692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46634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Fine-tuned LLM answers constrained to graph evidence paths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5486400"/>
            <a:ext cx="64008" cy="56692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5532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Streaming updates: add new documents without full re-indexing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F6FC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09728" cy="914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GraphRAG wins the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Score 0.767 · 22/34 wins · Highest correctness (0.813) &amp; citation precision (91.2%)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109728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Graph structure captures what flat retrieval misses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Causal chains, entity relations, and multi-hop paths that TF-IDF &amp; Dense cannot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109728" cy="9144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73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Engineering discipline drove the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75887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Penalty tuning + lexical safety-net + bigrams + cross-sentence extraction each added measurable gain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97679"/>
            <a:ext cx="109728" cy="9144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97679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Hybrid is promising but needs adaptive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7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Static RRF fusion leaves performance on the table — learned weights could push it further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94960"/>
            <a:ext cx="109728" cy="9144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39496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68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</a:rPr>
              <a:t>Domain specificity is a feature, not a bug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</a:rPr>
              <a:t>Targeted ontology outperforms generic embeddings on expert-domain Q&amp;A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GraphRAG · Domain-Specific LLMs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